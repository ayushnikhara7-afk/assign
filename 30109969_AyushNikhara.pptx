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50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07296" y="1333499"/>
            <a:ext cx="228600" cy="1874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488411" y="1199387"/>
            <a:ext cx="346075" cy="292735"/>
          </a:xfrm>
          <a:custGeom>
            <a:avLst/>
            <a:gdLst/>
            <a:ahLst/>
            <a:cxnLst/>
            <a:rect l="l" t="t" r="r" b="b"/>
            <a:pathLst>
              <a:path w="346075" h="292734">
                <a:moveTo>
                  <a:pt x="336804" y="135636"/>
                </a:moveTo>
                <a:lnTo>
                  <a:pt x="310896" y="88392"/>
                </a:lnTo>
                <a:lnTo>
                  <a:pt x="243840" y="28956"/>
                </a:lnTo>
                <a:lnTo>
                  <a:pt x="193548" y="4572"/>
                </a:lnTo>
                <a:lnTo>
                  <a:pt x="192024" y="3048"/>
                </a:lnTo>
                <a:lnTo>
                  <a:pt x="185928" y="0"/>
                </a:lnTo>
                <a:lnTo>
                  <a:pt x="166116" y="18288"/>
                </a:lnTo>
                <a:lnTo>
                  <a:pt x="140208" y="36576"/>
                </a:lnTo>
                <a:lnTo>
                  <a:pt x="77724" y="76200"/>
                </a:lnTo>
                <a:lnTo>
                  <a:pt x="24384" y="124968"/>
                </a:lnTo>
                <a:lnTo>
                  <a:pt x="0" y="192024"/>
                </a:lnTo>
                <a:lnTo>
                  <a:pt x="4572" y="222504"/>
                </a:lnTo>
                <a:lnTo>
                  <a:pt x="38100" y="271272"/>
                </a:lnTo>
                <a:lnTo>
                  <a:pt x="80772" y="291084"/>
                </a:lnTo>
                <a:lnTo>
                  <a:pt x="97536" y="292608"/>
                </a:lnTo>
                <a:lnTo>
                  <a:pt x="114300" y="291084"/>
                </a:lnTo>
                <a:lnTo>
                  <a:pt x="143256" y="281940"/>
                </a:lnTo>
                <a:lnTo>
                  <a:pt x="178308" y="254508"/>
                </a:lnTo>
                <a:lnTo>
                  <a:pt x="201168" y="224028"/>
                </a:lnTo>
                <a:lnTo>
                  <a:pt x="220980" y="192024"/>
                </a:lnTo>
                <a:lnTo>
                  <a:pt x="240792" y="163068"/>
                </a:lnTo>
                <a:lnTo>
                  <a:pt x="262128" y="143256"/>
                </a:lnTo>
                <a:lnTo>
                  <a:pt x="289560" y="135636"/>
                </a:lnTo>
                <a:lnTo>
                  <a:pt x="336804" y="135636"/>
                </a:lnTo>
                <a:close/>
              </a:path>
              <a:path w="346075" h="292734">
                <a:moveTo>
                  <a:pt x="345960" y="184416"/>
                </a:moveTo>
                <a:lnTo>
                  <a:pt x="342912" y="149364"/>
                </a:lnTo>
                <a:lnTo>
                  <a:pt x="336816" y="135648"/>
                </a:lnTo>
                <a:lnTo>
                  <a:pt x="289572" y="135648"/>
                </a:lnTo>
                <a:lnTo>
                  <a:pt x="318528" y="140220"/>
                </a:lnTo>
                <a:lnTo>
                  <a:pt x="335292" y="153936"/>
                </a:lnTo>
                <a:lnTo>
                  <a:pt x="342912" y="170700"/>
                </a:lnTo>
                <a:lnTo>
                  <a:pt x="345960" y="187464"/>
                </a:lnTo>
                <a:lnTo>
                  <a:pt x="345960" y="184416"/>
                </a:lnTo>
                <a:close/>
              </a:path>
            </a:pathLst>
          </a:custGeom>
          <a:solidFill>
            <a:srgbClr val="006E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4196" y="1249510"/>
            <a:ext cx="3020060" cy="53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ishaan.sahai@capgemini.com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967" y="6545257"/>
            <a:ext cx="9653270" cy="10223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7715250" algn="l"/>
                <a:tab pos="9599295" algn="l"/>
              </a:tabLst>
            </a:pP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Presentation Title</a:t>
            </a:r>
            <a:r>
              <a:rPr sz="650" spc="2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|</a:t>
            </a:r>
            <a:r>
              <a:rPr sz="650" spc="1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Author</a:t>
            </a:r>
            <a:r>
              <a:rPr sz="650" spc="1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|</a:t>
            </a:r>
            <a:r>
              <a:rPr sz="650" spc="1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spc="-20" dirty="0">
                <a:solidFill>
                  <a:srgbClr val="A5A5A5"/>
                </a:solidFill>
                <a:latin typeface="Verdana"/>
                <a:cs typeface="Verdana"/>
              </a:rPr>
              <a:t>Date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	©</a:t>
            </a:r>
            <a:r>
              <a:rPr sz="650" spc="1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Capgemini</a:t>
            </a:r>
            <a:r>
              <a:rPr sz="650" spc="2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2017.</a:t>
            </a:r>
            <a:r>
              <a:rPr sz="650" spc="-5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All</a:t>
            </a:r>
            <a:r>
              <a:rPr sz="650" spc="4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rights</a:t>
            </a:r>
            <a:r>
              <a:rPr sz="650" spc="15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dirty="0">
                <a:solidFill>
                  <a:srgbClr val="A5A5A5"/>
                </a:solidFill>
                <a:latin typeface="Verdana"/>
                <a:cs typeface="Verdana"/>
              </a:rPr>
              <a:t>reserved</a:t>
            </a:r>
            <a:r>
              <a:rPr sz="650" spc="229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650" spc="-50" dirty="0">
                <a:solidFill>
                  <a:srgbClr val="11AADB"/>
                </a:solidFill>
                <a:latin typeface="Verdana"/>
                <a:cs typeface="Verdana"/>
              </a:rPr>
              <a:t>|</a:t>
            </a:r>
            <a:r>
              <a:rPr sz="650" dirty="0">
                <a:solidFill>
                  <a:srgbClr val="11AADB"/>
                </a:solidFill>
                <a:latin typeface="Verdana"/>
                <a:cs typeface="Verdana"/>
              </a:rPr>
              <a:t>	</a:t>
            </a:r>
            <a:r>
              <a:rPr sz="650" spc="-50" dirty="0">
                <a:solidFill>
                  <a:srgbClr val="A5A5A5"/>
                </a:solidFill>
                <a:latin typeface="Verdana"/>
                <a:cs typeface="Verdana"/>
              </a:rPr>
              <a:t>1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057656"/>
            <a:ext cx="10064115" cy="5659120"/>
            <a:chOff x="0" y="1057656"/>
            <a:chExt cx="10064115" cy="5659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6"/>
              <a:ext cx="10049256" cy="56586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" y="3032759"/>
              <a:ext cx="515112" cy="5151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6200" y="3220211"/>
              <a:ext cx="379475" cy="3779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0855" y="2770632"/>
              <a:ext cx="2447543" cy="923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0855" y="4462272"/>
              <a:ext cx="2447543" cy="6278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0855" y="5463540"/>
              <a:ext cx="2447543" cy="3169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615428" y="2775203"/>
              <a:ext cx="2443480" cy="0"/>
            </a:xfrm>
            <a:custGeom>
              <a:avLst/>
              <a:gdLst/>
              <a:ahLst/>
              <a:cxnLst/>
              <a:rect l="l" t="t" r="r" b="b"/>
              <a:pathLst>
                <a:path w="2443479">
                  <a:moveTo>
                    <a:pt x="0" y="0"/>
                  </a:moveTo>
                  <a:lnTo>
                    <a:pt x="2442971" y="0"/>
                  </a:lnTo>
                </a:path>
              </a:pathLst>
            </a:custGeom>
            <a:ln w="10668">
              <a:solidFill>
                <a:srgbClr val="11AA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5428" y="1831848"/>
              <a:ext cx="2443480" cy="0"/>
            </a:xfrm>
            <a:custGeom>
              <a:avLst/>
              <a:gdLst/>
              <a:ahLst/>
              <a:cxnLst/>
              <a:rect l="l" t="t" r="r" b="b"/>
              <a:pathLst>
                <a:path w="2443479">
                  <a:moveTo>
                    <a:pt x="0" y="0"/>
                  </a:moveTo>
                  <a:lnTo>
                    <a:pt x="2442971" y="0"/>
                  </a:lnTo>
                </a:path>
              </a:pathLst>
            </a:custGeom>
            <a:ln w="10668">
              <a:solidFill>
                <a:srgbClr val="11AA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15428" y="6316980"/>
              <a:ext cx="2443480" cy="0"/>
            </a:xfrm>
            <a:custGeom>
              <a:avLst/>
              <a:gdLst/>
              <a:ahLst/>
              <a:cxnLst/>
              <a:rect l="l" t="t" r="r" b="b"/>
              <a:pathLst>
                <a:path w="2443479">
                  <a:moveTo>
                    <a:pt x="0" y="0"/>
                  </a:moveTo>
                  <a:lnTo>
                    <a:pt x="2442971" y="0"/>
                  </a:lnTo>
                </a:path>
              </a:pathLst>
            </a:custGeom>
            <a:ln w="10668">
              <a:solidFill>
                <a:srgbClr val="11AA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425584" y="1855717"/>
            <a:ext cx="154178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00"/>
              </a:spcBef>
            </a:pPr>
            <a:r>
              <a:rPr sz="750" spc="-10" dirty="0">
                <a:latin typeface="Verdana"/>
                <a:cs typeface="Verdana"/>
              </a:rPr>
              <a:t>OOPs </a:t>
            </a:r>
            <a:r>
              <a:rPr sz="750" spc="-20" dirty="0">
                <a:latin typeface="Verdana"/>
                <a:cs typeface="Verdana"/>
              </a:rPr>
              <a:t>Concepts,</a:t>
            </a:r>
            <a:r>
              <a:rPr sz="750" spc="1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Exception Handling,</a:t>
            </a:r>
            <a:r>
              <a:rPr sz="750" spc="-5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Collections,</a:t>
            </a:r>
            <a:r>
              <a:rPr sz="750" spc="-3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LINQ, </a:t>
            </a:r>
            <a:r>
              <a:rPr sz="750" spc="-10" dirty="0">
                <a:latin typeface="Verdana"/>
                <a:cs typeface="Verdana"/>
              </a:rPr>
              <a:t>Entity</a:t>
            </a:r>
            <a:r>
              <a:rPr sz="750" spc="-3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Framework,</a:t>
            </a:r>
            <a:r>
              <a:rPr sz="750" spc="-3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RESTful</a:t>
            </a:r>
            <a:r>
              <a:rPr sz="750" spc="-3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APIs, Dependency</a:t>
            </a:r>
            <a:r>
              <a:rPr sz="750" spc="3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Injection,</a:t>
            </a:r>
            <a:r>
              <a:rPr sz="750" spc="40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MVC </a:t>
            </a:r>
            <a:r>
              <a:rPr sz="750" spc="-20" dirty="0">
                <a:latin typeface="Verdana"/>
                <a:cs typeface="Verdana"/>
              </a:rPr>
              <a:t>Architecture,</a:t>
            </a:r>
            <a:r>
              <a:rPr sz="750" spc="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Middleware </a:t>
            </a:r>
            <a:r>
              <a:rPr sz="750" spc="-20" dirty="0">
                <a:latin typeface="Verdana"/>
                <a:cs typeface="Verdana"/>
              </a:rPr>
              <a:t>Configuration,</a:t>
            </a:r>
            <a:r>
              <a:rPr sz="750" spc="1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Unit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Testing</a:t>
            </a:r>
            <a:r>
              <a:rPr sz="75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with xUnit/NUnit,</a:t>
            </a:r>
            <a:r>
              <a:rPr sz="750" spc="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Swagger Integration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8814" y="1855717"/>
            <a:ext cx="490855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dirty="0">
                <a:latin typeface="Verdana"/>
                <a:cs typeface="Verdana"/>
              </a:rPr>
              <a:t>C#</a:t>
            </a:r>
            <a:r>
              <a:rPr sz="750" spc="-45" dirty="0">
                <a:latin typeface="Verdana"/>
                <a:cs typeface="Verdana"/>
              </a:rPr>
              <a:t> </a:t>
            </a:r>
            <a:r>
              <a:rPr sz="750" dirty="0">
                <a:latin typeface="Verdana"/>
                <a:cs typeface="Verdana"/>
              </a:rPr>
              <a:t>/</a:t>
            </a:r>
            <a:r>
              <a:rPr sz="750" spc="-3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.NET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750" spc="-20" dirty="0">
                <a:latin typeface="Verdana"/>
                <a:cs typeface="Verdana"/>
              </a:rPr>
              <a:t>Core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25584" y="2799067"/>
            <a:ext cx="1644650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00"/>
              </a:spcBef>
            </a:pPr>
            <a:r>
              <a:rPr sz="750" spc="-10" dirty="0">
                <a:latin typeface="Verdana"/>
                <a:cs typeface="Verdana"/>
              </a:rPr>
              <a:t>Controllers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dirty="0">
                <a:latin typeface="Verdana"/>
                <a:cs typeface="Verdana"/>
              </a:rPr>
              <a:t>and</a:t>
            </a:r>
            <a:r>
              <a:rPr sz="750" spc="-6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Routing, </a:t>
            </a:r>
            <a:r>
              <a:rPr sz="750" spc="-20" dirty="0">
                <a:latin typeface="Verdana"/>
                <a:cs typeface="Verdana"/>
              </a:rPr>
              <a:t>Implementation</a:t>
            </a:r>
            <a:r>
              <a:rPr sz="750" dirty="0">
                <a:latin typeface="Verdana"/>
                <a:cs typeface="Verdana"/>
              </a:rPr>
              <a:t> of</a:t>
            </a:r>
            <a:r>
              <a:rPr sz="750" spc="-2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GET,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POST,</a:t>
            </a:r>
            <a:r>
              <a:rPr sz="750" spc="50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PUT</a:t>
            </a:r>
            <a:r>
              <a:rPr sz="750" spc="-35" dirty="0">
                <a:latin typeface="Verdana"/>
                <a:cs typeface="Verdana"/>
              </a:rPr>
              <a:t> </a:t>
            </a:r>
            <a:r>
              <a:rPr sz="750" dirty="0">
                <a:latin typeface="Verdana"/>
                <a:cs typeface="Verdana"/>
              </a:rPr>
              <a:t>&amp;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DELETE</a:t>
            </a:r>
            <a:r>
              <a:rPr sz="750" spc="-20" dirty="0">
                <a:latin typeface="Verdana"/>
                <a:cs typeface="Verdana"/>
              </a:rPr>
              <a:t> Methods,</a:t>
            </a:r>
            <a:r>
              <a:rPr sz="750" spc="-1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Model Validation,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Exception</a:t>
            </a:r>
            <a:r>
              <a:rPr sz="750" spc="2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Handling, </a:t>
            </a:r>
            <a:r>
              <a:rPr sz="750" spc="-25" dirty="0">
                <a:latin typeface="Verdana"/>
                <a:cs typeface="Verdana"/>
              </a:rPr>
              <a:t>Token-</a:t>
            </a:r>
            <a:r>
              <a:rPr sz="750" dirty="0">
                <a:latin typeface="Verdana"/>
                <a:cs typeface="Verdana"/>
              </a:rPr>
              <a:t>Based</a:t>
            </a:r>
            <a:r>
              <a:rPr sz="750" spc="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Authentication,</a:t>
            </a:r>
            <a:r>
              <a:rPr sz="750" spc="2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Role- </a:t>
            </a:r>
            <a:r>
              <a:rPr sz="750" spc="-10" dirty="0">
                <a:latin typeface="Verdana"/>
                <a:cs typeface="Verdana"/>
              </a:rPr>
              <a:t>Based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Authorization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8814" y="2799067"/>
            <a:ext cx="65405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750" spc="-30" dirty="0">
                <a:latin typeface="Verdana"/>
                <a:cs typeface="Verdana"/>
              </a:rPr>
              <a:t>ASP.NET</a:t>
            </a:r>
            <a:r>
              <a:rPr sz="750" spc="-5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Web API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25584" y="3711898"/>
            <a:ext cx="154749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00"/>
              </a:spcBef>
            </a:pPr>
            <a:r>
              <a:rPr sz="750" spc="-25" dirty="0">
                <a:latin typeface="Verdana"/>
                <a:cs typeface="Verdana"/>
              </a:rPr>
              <a:t>Components,</a:t>
            </a:r>
            <a:r>
              <a:rPr sz="750" spc="-30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Data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Binding</a:t>
            </a:r>
            <a:r>
              <a:rPr sz="750" spc="-2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(One- </a:t>
            </a:r>
            <a:r>
              <a:rPr sz="750" spc="-25" dirty="0">
                <a:latin typeface="Verdana"/>
                <a:cs typeface="Verdana"/>
              </a:rPr>
              <a:t>way/Two-</a:t>
            </a:r>
            <a:r>
              <a:rPr sz="750" spc="-30" dirty="0">
                <a:latin typeface="Verdana"/>
                <a:cs typeface="Verdana"/>
              </a:rPr>
              <a:t>way),</a:t>
            </a:r>
            <a:r>
              <a:rPr sz="75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Directives, </a:t>
            </a:r>
            <a:r>
              <a:rPr sz="750" spc="-25" dirty="0">
                <a:latin typeface="Verdana"/>
                <a:cs typeface="Verdana"/>
              </a:rPr>
              <a:t>Services,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Dependency</a:t>
            </a:r>
            <a:r>
              <a:rPr sz="75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Injection, </a:t>
            </a:r>
            <a:r>
              <a:rPr sz="750" spc="-20" dirty="0">
                <a:latin typeface="Verdana"/>
                <a:cs typeface="Verdana"/>
              </a:rPr>
              <a:t>Routing</a:t>
            </a:r>
            <a:r>
              <a:rPr sz="750" spc="-4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and </a:t>
            </a:r>
            <a:r>
              <a:rPr sz="750" spc="-25" dirty="0">
                <a:latin typeface="Verdana"/>
                <a:cs typeface="Verdana"/>
              </a:rPr>
              <a:t>Navigation,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Reactive </a:t>
            </a:r>
            <a:r>
              <a:rPr sz="750" spc="-25" dirty="0">
                <a:latin typeface="Verdana"/>
                <a:cs typeface="Verdana"/>
              </a:rPr>
              <a:t>Forms, </a:t>
            </a:r>
            <a:r>
              <a:rPr sz="750" spc="-20" dirty="0">
                <a:latin typeface="Verdana"/>
                <a:cs typeface="Verdana"/>
              </a:rPr>
              <a:t>HTTP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Client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Integration, </a:t>
            </a:r>
            <a:r>
              <a:rPr sz="750" spc="-25" dirty="0">
                <a:latin typeface="Verdana"/>
                <a:cs typeface="Verdana"/>
              </a:rPr>
              <a:t>Responsive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UI</a:t>
            </a:r>
            <a:r>
              <a:rPr sz="750" spc="-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Design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78814" y="3711898"/>
            <a:ext cx="38227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latin typeface="Verdana"/>
                <a:cs typeface="Verdana"/>
              </a:rPr>
              <a:t>Angular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78814" y="4490645"/>
            <a:ext cx="63373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latin typeface="Verdana"/>
                <a:cs typeface="Verdana"/>
              </a:rPr>
              <a:t>Database (SQL</a:t>
            </a:r>
            <a:r>
              <a:rPr sz="750" spc="-35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Server)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25584" y="4490645"/>
            <a:ext cx="155003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00"/>
              </a:spcBef>
            </a:pPr>
            <a:r>
              <a:rPr sz="750" spc="-30" dirty="0">
                <a:latin typeface="Verdana"/>
                <a:cs typeface="Verdana"/>
              </a:rPr>
              <a:t>SSMS, Stored</a:t>
            </a:r>
            <a:r>
              <a:rPr sz="750" spc="-25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Procedures,</a:t>
            </a:r>
            <a:r>
              <a:rPr sz="750" spc="1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Joins, </a:t>
            </a:r>
            <a:r>
              <a:rPr sz="750" spc="-30" dirty="0">
                <a:latin typeface="Verdana"/>
                <a:cs typeface="Verdana"/>
              </a:rPr>
              <a:t>Views,</a:t>
            </a:r>
            <a:r>
              <a:rPr sz="750" spc="-20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Indexes,</a:t>
            </a:r>
            <a:r>
              <a:rPr sz="750" spc="10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Triggers,</a:t>
            </a:r>
            <a:r>
              <a:rPr sz="750" spc="5" dirty="0">
                <a:latin typeface="Verdana"/>
                <a:cs typeface="Verdana"/>
              </a:rPr>
              <a:t> </a:t>
            </a:r>
            <a:r>
              <a:rPr sz="750" spc="-20" dirty="0">
                <a:latin typeface="Verdana"/>
                <a:cs typeface="Verdana"/>
              </a:rPr>
              <a:t>Query </a:t>
            </a:r>
            <a:r>
              <a:rPr sz="750" spc="-30" dirty="0">
                <a:latin typeface="Verdana"/>
                <a:cs typeface="Verdana"/>
              </a:rPr>
              <a:t>Optimization,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Data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30" dirty="0">
                <a:latin typeface="Verdana"/>
                <a:cs typeface="Verdana"/>
              </a:rPr>
              <a:t>Normalization, Entity</a:t>
            </a:r>
            <a:r>
              <a:rPr sz="750" spc="10" dirty="0">
                <a:latin typeface="Verdana"/>
                <a:cs typeface="Verdana"/>
              </a:rPr>
              <a:t> </a:t>
            </a:r>
            <a:r>
              <a:rPr sz="750" spc="-35" dirty="0">
                <a:latin typeface="Verdana"/>
                <a:cs typeface="Verdana"/>
              </a:rPr>
              <a:t>Framework</a:t>
            </a:r>
            <a:r>
              <a:rPr sz="750" spc="15" dirty="0">
                <a:latin typeface="Verdana"/>
                <a:cs typeface="Verdana"/>
              </a:rPr>
              <a:t> </a:t>
            </a:r>
            <a:r>
              <a:rPr sz="750" spc="-35" dirty="0">
                <a:latin typeface="Verdana"/>
                <a:cs typeface="Verdana"/>
              </a:rPr>
              <a:t>Code-</a:t>
            </a:r>
            <a:r>
              <a:rPr sz="750" spc="-20" dirty="0">
                <a:latin typeface="Verdana"/>
                <a:cs typeface="Verdana"/>
              </a:rPr>
              <a:t>First </a:t>
            </a:r>
            <a:r>
              <a:rPr sz="750" spc="-10" dirty="0">
                <a:latin typeface="Verdana"/>
                <a:cs typeface="Verdana"/>
              </a:rPr>
              <a:t>Approach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750" dirty="0">
                <a:latin typeface="Verdana"/>
                <a:cs typeface="Verdana"/>
              </a:rPr>
              <a:t>HTML5, </a:t>
            </a:r>
            <a:r>
              <a:rPr sz="750" spc="-20" dirty="0">
                <a:latin typeface="Verdana"/>
                <a:cs typeface="Verdana"/>
              </a:rPr>
              <a:t>CSS3,JavaScript,</a:t>
            </a:r>
            <a:r>
              <a:rPr sz="750" spc="45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ES6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78814" y="5110887"/>
            <a:ext cx="38608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dirty="0">
                <a:latin typeface="Verdana"/>
                <a:cs typeface="Verdana"/>
              </a:rPr>
              <a:t>UI</a:t>
            </a:r>
            <a:r>
              <a:rPr sz="750" spc="-20" dirty="0">
                <a:latin typeface="Verdana"/>
                <a:cs typeface="Verdana"/>
              </a:rPr>
              <a:t> Tech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25584" y="5494970"/>
            <a:ext cx="86677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dirty="0">
                <a:latin typeface="Verdana"/>
                <a:cs typeface="Verdana"/>
              </a:rPr>
              <a:t>Git,</a:t>
            </a:r>
            <a:r>
              <a:rPr sz="750" spc="-4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Postman,</a:t>
            </a:r>
            <a:r>
              <a:rPr sz="750" spc="-15" dirty="0">
                <a:latin typeface="Verdana"/>
                <a:cs typeface="Verdana"/>
              </a:rPr>
              <a:t> </a:t>
            </a:r>
            <a:r>
              <a:rPr sz="750" spc="-25" dirty="0">
                <a:latin typeface="Verdana"/>
                <a:cs typeface="Verdana"/>
              </a:rPr>
              <a:t>IDE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78814" y="5494970"/>
            <a:ext cx="26987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latin typeface="Verdana"/>
                <a:cs typeface="Verdana"/>
              </a:rPr>
              <a:t>Tools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25584" y="5799756"/>
            <a:ext cx="1363345" cy="35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00"/>
              </a:spcBef>
            </a:pPr>
            <a:r>
              <a:rPr lang="en-US" sz="750" spc="-10" dirty="0" err="1">
                <a:latin typeface="Verdana"/>
                <a:cs typeface="Verdana"/>
              </a:rPr>
              <a:t>Reactjs</a:t>
            </a:r>
            <a:r>
              <a:rPr sz="750" spc="-10" dirty="0">
                <a:latin typeface="Verdana"/>
                <a:cs typeface="Verdana"/>
              </a:rPr>
              <a:t>,</a:t>
            </a:r>
            <a:r>
              <a:rPr sz="750" spc="20" dirty="0">
                <a:latin typeface="Verdana"/>
                <a:cs typeface="Verdana"/>
              </a:rPr>
              <a:t> </a:t>
            </a:r>
            <a:r>
              <a:rPr lang="en-US" sz="750" spc="-20" dirty="0">
                <a:latin typeface="Verdana"/>
                <a:cs typeface="Verdana"/>
              </a:rPr>
              <a:t>Nodejs,</a:t>
            </a:r>
            <a:r>
              <a:rPr sz="750" spc="10" dirty="0">
                <a:latin typeface="Verdana"/>
                <a:cs typeface="Verdana"/>
              </a:rPr>
              <a:t> </a:t>
            </a:r>
            <a:r>
              <a:rPr lang="en-US" sz="750" spc="10" dirty="0" err="1">
                <a:latin typeface="Verdana"/>
                <a:cs typeface="Verdana"/>
              </a:rPr>
              <a:t>MongoDb</a:t>
            </a:r>
            <a:r>
              <a:rPr lang="en-US" sz="750" spc="10" dirty="0">
                <a:latin typeface="Verdana"/>
                <a:cs typeface="Verdana"/>
              </a:rPr>
              <a:t>, </a:t>
            </a:r>
            <a:r>
              <a:rPr sz="750" spc="-10" dirty="0">
                <a:latin typeface="Verdana"/>
                <a:cs typeface="Verdana"/>
              </a:rPr>
              <a:t>Peer</a:t>
            </a:r>
            <a:r>
              <a:rPr sz="750" spc="-45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learning, </a:t>
            </a:r>
            <a:r>
              <a:rPr sz="750" spc="-20" dirty="0">
                <a:latin typeface="Verdana"/>
                <a:cs typeface="Verdana"/>
              </a:rPr>
              <a:t>Leadership,</a:t>
            </a:r>
            <a:r>
              <a:rPr sz="750" spc="1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Problem</a:t>
            </a:r>
            <a:r>
              <a:rPr sz="750" dirty="0">
                <a:latin typeface="Verdana"/>
                <a:cs typeface="Verdana"/>
              </a:rPr>
              <a:t> </a:t>
            </a:r>
            <a:r>
              <a:rPr sz="750" spc="-10" dirty="0">
                <a:latin typeface="Verdana"/>
                <a:cs typeface="Verdana"/>
              </a:rPr>
              <a:t>Solving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78814" y="5799756"/>
            <a:ext cx="63690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dirty="0">
                <a:latin typeface="Verdana"/>
                <a:cs typeface="Verdana"/>
              </a:rPr>
              <a:t>Add</a:t>
            </a:r>
            <a:r>
              <a:rPr sz="750" spc="-25" dirty="0">
                <a:latin typeface="Verdana"/>
                <a:cs typeface="Verdana"/>
              </a:rPr>
              <a:t> </a:t>
            </a:r>
            <a:r>
              <a:rPr sz="750" dirty="0">
                <a:latin typeface="Verdana"/>
                <a:cs typeface="Verdana"/>
              </a:rPr>
              <a:t>On</a:t>
            </a:r>
            <a:r>
              <a:rPr sz="750" spc="-10" dirty="0">
                <a:latin typeface="Verdana"/>
                <a:cs typeface="Verdana"/>
              </a:rPr>
              <a:t> skills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25487" y="3225208"/>
            <a:ext cx="1609090" cy="4248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470"/>
              </a:spcBef>
            </a:pPr>
            <a:r>
              <a:rPr sz="1000" b="1" spc="-10" dirty="0">
                <a:solidFill>
                  <a:srgbClr val="006EAC"/>
                </a:solidFill>
                <a:latin typeface="Verdana"/>
                <a:cs typeface="Verdana"/>
              </a:rPr>
              <a:t>Achievement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latin typeface="Verdana"/>
                <a:cs typeface="Verdana"/>
              </a:rPr>
              <a:t>Flight</a:t>
            </a:r>
            <a:r>
              <a:rPr sz="1000" b="1" spc="-4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Booking</a:t>
            </a:r>
            <a:r>
              <a:rPr sz="1000" b="1" spc="-5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System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25483" y="3815531"/>
            <a:ext cx="3256915" cy="2185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75285">
              <a:lnSpc>
                <a:spcPct val="103800"/>
              </a:lnSpc>
              <a:spcBef>
                <a:spcPts val="90"/>
              </a:spcBef>
            </a:pPr>
            <a:r>
              <a:rPr sz="800" dirty="0">
                <a:latin typeface="Verdana"/>
                <a:cs typeface="Verdana"/>
              </a:rPr>
              <a:t>Tech Stack: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.NET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Core,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Angular,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SQL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Server,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Swagger, Postman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800" spc="-10" dirty="0">
                <a:latin typeface="Verdana"/>
                <a:cs typeface="Verdana"/>
              </a:rPr>
              <a:t>Description:</a:t>
            </a:r>
            <a:endParaRPr sz="800">
              <a:latin typeface="Verdana"/>
              <a:cs typeface="Verdana"/>
            </a:endParaRPr>
          </a:p>
          <a:p>
            <a:pPr marL="12700" marR="168910">
              <a:lnSpc>
                <a:spcPct val="102499"/>
              </a:lnSpc>
              <a:spcBef>
                <a:spcPts val="590"/>
              </a:spcBef>
            </a:pPr>
            <a:r>
              <a:rPr sz="800" dirty="0">
                <a:latin typeface="Verdana"/>
                <a:cs typeface="Verdana"/>
              </a:rPr>
              <a:t>Developed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</a:t>
            </a:r>
            <a:r>
              <a:rPr sz="800" spc="-10" dirty="0">
                <a:latin typeface="Verdana"/>
                <a:cs typeface="Verdana"/>
              </a:rPr>
              <a:t> full-</a:t>
            </a:r>
            <a:r>
              <a:rPr sz="800" dirty="0">
                <a:latin typeface="Verdana"/>
                <a:cs typeface="Verdana"/>
              </a:rPr>
              <a:t>stack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Flight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Booking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System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to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streamline </a:t>
            </a:r>
            <a:r>
              <a:rPr sz="800" dirty="0">
                <a:latin typeface="Verdana"/>
                <a:cs typeface="Verdana"/>
              </a:rPr>
              <a:t>flight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search,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booking,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check-</a:t>
            </a:r>
            <a:r>
              <a:rPr sz="800" dirty="0">
                <a:latin typeface="Verdana"/>
                <a:cs typeface="Verdana"/>
              </a:rPr>
              <a:t>in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processes.</a:t>
            </a:r>
            <a:endParaRPr sz="800">
              <a:latin typeface="Verdana"/>
              <a:cs typeface="Verdana"/>
            </a:endParaRPr>
          </a:p>
          <a:p>
            <a:pPr marL="12700" marR="36195">
              <a:lnSpc>
                <a:spcPct val="103099"/>
              </a:lnSpc>
              <a:spcBef>
                <a:spcPts val="5"/>
              </a:spcBef>
            </a:pPr>
            <a:r>
              <a:rPr sz="800" dirty="0">
                <a:latin typeface="Verdana"/>
                <a:cs typeface="Verdana"/>
              </a:rPr>
              <a:t>Key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features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include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user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authentication,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flight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search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filters, </a:t>
            </a:r>
            <a:r>
              <a:rPr sz="800" dirty="0">
                <a:latin typeface="Verdana"/>
                <a:cs typeface="Verdana"/>
              </a:rPr>
              <a:t>ticket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booking,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check-</a:t>
            </a:r>
            <a:r>
              <a:rPr sz="800" dirty="0">
                <a:latin typeface="Verdana"/>
                <a:cs typeface="Verdana"/>
              </a:rPr>
              <a:t>in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module,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 admin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dashboard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for </a:t>
            </a:r>
            <a:r>
              <a:rPr sz="800" dirty="0">
                <a:latin typeface="Verdana"/>
                <a:cs typeface="Verdana"/>
              </a:rPr>
              <a:t>managing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flights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users.</a:t>
            </a:r>
            <a:endParaRPr sz="800">
              <a:latin typeface="Verdana"/>
              <a:cs typeface="Verdana"/>
            </a:endParaRPr>
          </a:p>
          <a:p>
            <a:pPr marL="12700" marR="56515">
              <a:lnSpc>
                <a:spcPts val="1000"/>
              </a:lnSpc>
              <a:spcBef>
                <a:spcPts val="25"/>
              </a:spcBef>
            </a:pPr>
            <a:r>
              <a:rPr sz="800" dirty="0">
                <a:latin typeface="Verdana"/>
                <a:cs typeface="Verdana"/>
              </a:rPr>
              <a:t>Designed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RESTful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APIs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using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.NET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Core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tested</a:t>
            </a:r>
            <a:r>
              <a:rPr sz="800" spc="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endpoints </a:t>
            </a:r>
            <a:r>
              <a:rPr sz="800" dirty="0">
                <a:latin typeface="Verdana"/>
                <a:cs typeface="Verdana"/>
              </a:rPr>
              <a:t>with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Postman for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reliability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performance.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40"/>
              </a:lnSpc>
            </a:pPr>
            <a:r>
              <a:rPr sz="800" dirty="0">
                <a:latin typeface="Verdana"/>
                <a:cs typeface="Verdana"/>
              </a:rPr>
              <a:t>Built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dynamic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responsive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Angular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frontend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to</a:t>
            </a:r>
            <a:r>
              <a:rPr sz="800" spc="-10" dirty="0">
                <a:latin typeface="Verdana"/>
                <a:cs typeface="Verdana"/>
              </a:rPr>
              <a:t> ensure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dirty="0">
                <a:latin typeface="Verdana"/>
                <a:cs typeface="Verdana"/>
              </a:rPr>
              <a:t>smooth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user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experience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across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devices.</a:t>
            </a:r>
            <a:endParaRPr sz="800">
              <a:latin typeface="Verdana"/>
              <a:cs typeface="Verdana"/>
            </a:endParaRPr>
          </a:p>
          <a:p>
            <a:pPr marL="12700" marR="149860">
              <a:lnSpc>
                <a:spcPts val="1000"/>
              </a:lnSpc>
              <a:spcBef>
                <a:spcPts val="25"/>
              </a:spcBef>
            </a:pPr>
            <a:r>
              <a:rPr sz="800" dirty="0">
                <a:latin typeface="Verdana"/>
                <a:cs typeface="Verdana"/>
              </a:rPr>
              <a:t>Integrated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SQL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Server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for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secure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efficient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data </a:t>
            </a:r>
            <a:r>
              <a:rPr sz="800" spc="-10" dirty="0">
                <a:latin typeface="Verdana"/>
                <a:cs typeface="Verdana"/>
              </a:rPr>
              <a:t>storage </a:t>
            </a:r>
            <a:r>
              <a:rPr sz="800" dirty="0">
                <a:latin typeface="Verdana"/>
                <a:cs typeface="Verdana"/>
              </a:rPr>
              <a:t>and </a:t>
            </a:r>
            <a:r>
              <a:rPr sz="800" spc="-10" dirty="0">
                <a:latin typeface="Verdana"/>
                <a:cs typeface="Verdana"/>
              </a:rPr>
              <a:t>retrieval.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40"/>
              </a:lnSpc>
            </a:pPr>
            <a:r>
              <a:rPr sz="800" dirty="0">
                <a:latin typeface="Verdana"/>
                <a:cs typeface="Verdana"/>
              </a:rPr>
              <a:t>Ensured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modular architecture</a:t>
            </a:r>
            <a:r>
              <a:rPr sz="800" spc="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scalability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to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support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future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dirty="0">
                <a:latin typeface="Verdana"/>
                <a:cs typeface="Verdana"/>
              </a:rPr>
              <a:t>enhancements</a:t>
            </a:r>
            <a:r>
              <a:rPr sz="800" spc="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high user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traffic.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25483" y="6337698"/>
            <a:ext cx="209994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latin typeface="Verdana"/>
                <a:cs typeface="Verdana"/>
              </a:rPr>
              <a:t>Check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out</a:t>
            </a:r>
            <a:r>
              <a:rPr sz="800" b="1" spc="3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my</a:t>
            </a:r>
            <a:r>
              <a:rPr sz="800" b="1" spc="2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work</a:t>
            </a:r>
            <a:r>
              <a:rPr sz="800" b="1" spc="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on</a:t>
            </a:r>
            <a:r>
              <a:rPr sz="800" b="1" spc="3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Video</a:t>
            </a:r>
            <a:r>
              <a:rPr sz="800" b="1" spc="5" dirty="0">
                <a:latin typeface="Verdana"/>
                <a:cs typeface="Verdana"/>
              </a:rPr>
              <a:t> </a:t>
            </a:r>
            <a:r>
              <a:rPr sz="800" b="1" spc="-10" dirty="0">
                <a:latin typeface="Verdana"/>
                <a:cs typeface="Verdana"/>
              </a:rPr>
              <a:t>Profile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3190" y="3269368"/>
            <a:ext cx="1458595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254"/>
              </a:spcBef>
            </a:pPr>
            <a:r>
              <a:rPr sz="1000" b="1" spc="-10" dirty="0">
                <a:solidFill>
                  <a:srgbClr val="006EAC"/>
                </a:solidFill>
                <a:latin typeface="Verdana"/>
                <a:cs typeface="Verdana"/>
              </a:rPr>
              <a:t>Strengths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b="1" dirty="0">
                <a:latin typeface="Verdana"/>
                <a:cs typeface="Verdana"/>
              </a:rPr>
              <a:t>Full</a:t>
            </a:r>
            <a:r>
              <a:rPr sz="1000" b="1" spc="-4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Stack</a:t>
            </a:r>
            <a:r>
              <a:rPr sz="1000" b="1" spc="-7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Developer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201" y="3844509"/>
            <a:ext cx="3153410" cy="278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1120">
              <a:lnSpc>
                <a:spcPct val="103800"/>
              </a:lnSpc>
              <a:spcBef>
                <a:spcPts val="90"/>
              </a:spcBef>
              <a:buFont typeface="Arial MT"/>
              <a:buChar char="•"/>
              <a:tabLst>
                <a:tab pos="83820" algn="l"/>
              </a:tabLst>
            </a:pPr>
            <a:r>
              <a:rPr sz="800" dirty="0">
                <a:latin typeface="Verdana"/>
                <a:cs typeface="Verdana"/>
              </a:rPr>
              <a:t>Built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scalable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web applications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using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.NET</a:t>
            </a:r>
            <a:r>
              <a:rPr sz="800" b="1" spc="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Core,</a:t>
            </a:r>
            <a:r>
              <a:rPr sz="800" b="1" spc="-10" dirty="0">
                <a:latin typeface="Verdana"/>
                <a:cs typeface="Verdana"/>
              </a:rPr>
              <a:t> Angular, </a:t>
            </a:r>
            <a:r>
              <a:rPr sz="800" b="1" dirty="0">
                <a:latin typeface="Verdana"/>
                <a:cs typeface="Verdana"/>
              </a:rPr>
              <a:t>and</a:t>
            </a:r>
            <a:r>
              <a:rPr sz="800" b="1" spc="-20" dirty="0">
                <a:latin typeface="Verdana"/>
                <a:cs typeface="Verdana"/>
              </a:rPr>
              <a:t> </a:t>
            </a:r>
            <a:r>
              <a:rPr sz="800" b="1" spc="-10" dirty="0">
                <a:latin typeface="Verdana"/>
                <a:cs typeface="Verdana"/>
              </a:rPr>
              <a:t>Azure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4201" y="4242273"/>
            <a:ext cx="2722880" cy="278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1120">
              <a:lnSpc>
                <a:spcPct val="103699"/>
              </a:lnSpc>
              <a:spcBef>
                <a:spcPts val="90"/>
              </a:spcBef>
              <a:buFont typeface="Arial MT"/>
              <a:buChar char="•"/>
              <a:tabLst>
                <a:tab pos="83820" algn="l"/>
              </a:tabLst>
            </a:pPr>
            <a:r>
              <a:rPr sz="800" dirty="0">
                <a:latin typeface="Verdana"/>
                <a:cs typeface="Verdana"/>
              </a:rPr>
              <a:t>Designed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and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developed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RESTful</a:t>
            </a:r>
            <a:r>
              <a:rPr sz="800" b="1" spc="2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APIs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with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clean </a:t>
            </a:r>
            <a:r>
              <a:rPr sz="800" spc="-10" dirty="0">
                <a:latin typeface="Verdana"/>
                <a:cs typeface="Verdana"/>
              </a:rPr>
              <a:t>architecture.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4201" y="4632019"/>
            <a:ext cx="2982595" cy="2971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83820" indent="-7112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83820" algn="l"/>
              </a:tabLst>
            </a:pPr>
            <a:r>
              <a:rPr sz="800" dirty="0">
                <a:latin typeface="Verdana"/>
                <a:cs typeface="Verdana"/>
              </a:rPr>
              <a:t>Used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SQL</a:t>
            </a:r>
            <a:r>
              <a:rPr sz="800" b="1" spc="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Server</a:t>
            </a:r>
            <a:r>
              <a:rPr sz="800" b="1" spc="1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(SSMS)</a:t>
            </a:r>
            <a:r>
              <a:rPr sz="800" b="1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for</a:t>
            </a:r>
            <a:r>
              <a:rPr sz="800" spc="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backend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data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handling.</a:t>
            </a:r>
            <a:endParaRPr sz="800">
              <a:latin typeface="Verdana"/>
              <a:cs typeface="Verdana"/>
            </a:endParaRPr>
          </a:p>
          <a:p>
            <a:pPr marL="48260" indent="-4762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48260" algn="l"/>
              </a:tabLst>
            </a:pPr>
            <a:r>
              <a:rPr sz="800" dirty="0">
                <a:latin typeface="Verdana"/>
                <a:cs typeface="Verdana"/>
              </a:rPr>
              <a:t>Implemented</a:t>
            </a:r>
            <a:r>
              <a:rPr sz="800" spc="3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authentication</a:t>
            </a:r>
            <a:r>
              <a:rPr sz="800" b="1" spc="-2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and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b="1" spc="-10" dirty="0">
                <a:latin typeface="Verdana"/>
                <a:cs typeface="Verdana"/>
              </a:rPr>
              <a:t>role-</a:t>
            </a:r>
            <a:r>
              <a:rPr sz="800" b="1" dirty="0">
                <a:latin typeface="Verdana"/>
                <a:cs typeface="Verdana"/>
              </a:rPr>
              <a:t>based </a:t>
            </a:r>
            <a:r>
              <a:rPr sz="800" b="1" spc="-10" dirty="0">
                <a:latin typeface="Verdana"/>
                <a:cs typeface="Verdana"/>
              </a:rPr>
              <a:t>access</a:t>
            </a:r>
            <a:r>
              <a:rPr sz="800" spc="-10" dirty="0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4201" y="5049963"/>
            <a:ext cx="283273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02499"/>
              </a:lnSpc>
              <a:spcBef>
                <a:spcPts val="100"/>
              </a:spcBef>
              <a:buFont typeface="Arial MT"/>
              <a:buChar char="•"/>
              <a:tabLst>
                <a:tab pos="83820" algn="l"/>
              </a:tabLst>
            </a:pPr>
            <a:r>
              <a:rPr sz="800" dirty="0">
                <a:latin typeface="Verdana"/>
                <a:cs typeface="Verdana"/>
              </a:rPr>
              <a:t>Implemented</a:t>
            </a:r>
            <a:r>
              <a:rPr sz="800" spc="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authentication,</a:t>
            </a:r>
            <a:r>
              <a:rPr sz="800" spc="5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role-</a:t>
            </a:r>
            <a:r>
              <a:rPr sz="800" dirty="0">
                <a:latin typeface="Verdana"/>
                <a:cs typeface="Verdana"/>
              </a:rPr>
              <a:t>based</a:t>
            </a:r>
            <a:r>
              <a:rPr sz="800" spc="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access,</a:t>
            </a:r>
            <a:r>
              <a:rPr sz="800" spc="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and </a:t>
            </a:r>
            <a:r>
              <a:rPr sz="800" dirty="0">
                <a:latin typeface="Verdana"/>
                <a:cs typeface="Verdana"/>
              </a:rPr>
              <a:t>admin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modules.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4201" y="5446219"/>
            <a:ext cx="222948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3820" indent="-7112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83820" algn="l"/>
                <a:tab pos="2178050" algn="l"/>
              </a:tabLst>
            </a:pPr>
            <a:r>
              <a:rPr sz="800" dirty="0">
                <a:latin typeface="Verdana"/>
                <a:cs typeface="Verdana"/>
              </a:rPr>
              <a:t>Documented</a:t>
            </a:r>
            <a:r>
              <a:rPr sz="800" spc="5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APIs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using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Swagger </a:t>
            </a:r>
            <a:r>
              <a:rPr sz="800" b="1" spc="-25" dirty="0">
                <a:latin typeface="Verdana"/>
                <a:cs typeface="Verdana"/>
              </a:rPr>
              <a:t>UI</a:t>
            </a:r>
            <a:r>
              <a:rPr sz="800" b="1" dirty="0">
                <a:latin typeface="Verdana"/>
                <a:cs typeface="Verdana"/>
              </a:rPr>
              <a:t>	</a:t>
            </a:r>
            <a:r>
              <a:rPr sz="800" spc="-50" dirty="0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4201" y="5720530"/>
            <a:ext cx="309626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3820" indent="-7112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83820" algn="l"/>
              </a:tabLst>
            </a:pPr>
            <a:r>
              <a:rPr sz="800" dirty="0">
                <a:latin typeface="Verdana"/>
                <a:cs typeface="Verdana"/>
              </a:rPr>
              <a:t>Applied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unit</a:t>
            </a:r>
            <a:r>
              <a:rPr sz="800" b="1" spc="-2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testing</a:t>
            </a:r>
            <a:r>
              <a:rPr sz="800" b="1" spc="-10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(xUnit/NUnit)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to ensure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reliability.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434"/>
              </a:spcBef>
            </a:pPr>
            <a:r>
              <a:rPr lang="en-US" dirty="0"/>
              <a:t>Ayush Nikhara</a:t>
            </a:r>
            <a:endParaRPr spc="-20" dirty="0"/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b="0" dirty="0">
                <a:latin typeface="Verdana"/>
                <a:cs typeface="Verdana"/>
              </a:rPr>
              <a:t>Senior Analyst/Senior</a:t>
            </a:r>
            <a:r>
              <a:rPr sz="1150" b="0" spc="-20" dirty="0">
                <a:latin typeface="Verdana"/>
                <a:cs typeface="Verdana"/>
              </a:rPr>
              <a:t> </a:t>
            </a:r>
            <a:r>
              <a:rPr sz="1150" b="0" dirty="0">
                <a:latin typeface="Verdana"/>
                <a:cs typeface="Verdana"/>
              </a:rPr>
              <a:t>Software</a:t>
            </a:r>
            <a:r>
              <a:rPr sz="1150" b="0" spc="-100" dirty="0">
                <a:latin typeface="Verdana"/>
                <a:cs typeface="Verdana"/>
              </a:rPr>
              <a:t> </a:t>
            </a:r>
            <a:r>
              <a:rPr sz="1150" b="0" spc="-10" dirty="0">
                <a:latin typeface="Verdana"/>
                <a:cs typeface="Verdana"/>
              </a:rPr>
              <a:t>Engineer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79637" y="2096746"/>
            <a:ext cx="2417445" cy="91435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1350" b="1" baseline="3086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350" b="1" spc="-67" baseline="308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b="1" baseline="3086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sz="1350" b="1" spc="165" baseline="308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Verdana"/>
                <a:cs typeface="Verdana"/>
              </a:rPr>
              <a:t>Bangalore</a:t>
            </a:r>
            <a:endParaRPr sz="900" dirty="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r>
              <a:rPr sz="900" b="1" spc="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1350" b="1" u="sng" spc="-15" baseline="6172" dirty="0">
                <a:solidFill>
                  <a:srgbClr val="87D4EB"/>
                </a:solidFill>
                <a:uFill>
                  <a:solidFill>
                    <a:srgbClr val="87D4EB"/>
                  </a:solidFill>
                </a:uFill>
                <a:latin typeface="Verdana"/>
                <a:cs typeface="Verdana"/>
              </a:rPr>
              <a:t>ayush.nikhara</a:t>
            </a:r>
            <a:r>
              <a:rPr sz="1350" u="sng" spc="-15" baseline="6172" dirty="0">
                <a:solidFill>
                  <a:srgbClr val="87D4EB"/>
                </a:solidFill>
                <a:uFill>
                  <a:solidFill>
                    <a:srgbClr val="87D4EB"/>
                  </a:solidFill>
                </a:uFill>
                <a:latin typeface="Verdana"/>
                <a:cs typeface="Verdana"/>
                <a:hlinkClick r:id="rId8"/>
              </a:rPr>
              <a:t>@capgemini.com</a:t>
            </a:r>
            <a:endParaRPr sz="1350" baseline="6172" dirty="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9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baseline="3086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sz="1350" spc="-30" baseline="308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1350" spc="-15" baseline="3086" dirty="0">
                <a:solidFill>
                  <a:srgbClr val="FFFFFF"/>
                </a:solidFill>
                <a:latin typeface="Verdana"/>
                <a:cs typeface="Verdana"/>
              </a:rPr>
              <a:t>9198637799</a:t>
            </a:r>
            <a:endParaRPr sz="1350" baseline="3086" dirty="0">
              <a:latin typeface="Verdana"/>
              <a:cs typeface="Verdana"/>
            </a:endParaRPr>
          </a:p>
          <a:p>
            <a:pPr marL="42545">
              <a:lnSpc>
                <a:spcPct val="100000"/>
              </a:lnSpc>
              <a:spcBef>
                <a:spcPts val="335"/>
              </a:spcBef>
            </a:pPr>
            <a:r>
              <a:rPr sz="1350" b="1" baseline="3086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350" b="1" spc="247" baseline="308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Verdana"/>
                <a:cs typeface="Verdana"/>
              </a:rPr>
              <a:t>A5</a:t>
            </a:r>
            <a:endParaRPr sz="900" dirty="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39193" y="1058457"/>
            <a:ext cx="2176780" cy="73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2255" marR="5080" indent="-109855">
              <a:lnSpc>
                <a:spcPct val="122200"/>
              </a:lnSpc>
              <a:spcBef>
                <a:spcPts val="95"/>
              </a:spcBef>
              <a:tabLst>
                <a:tab pos="1642745" algn="l"/>
              </a:tabLst>
            </a:pPr>
            <a:r>
              <a:rPr sz="1000" b="1" spc="-10" dirty="0">
                <a:solidFill>
                  <a:srgbClr val="006EAC"/>
                </a:solidFill>
                <a:latin typeface="Verdana"/>
                <a:cs typeface="Verdana"/>
              </a:rPr>
              <a:t>Education</a:t>
            </a:r>
            <a:r>
              <a:rPr sz="1000" b="1" spc="-75" dirty="0">
                <a:solidFill>
                  <a:srgbClr val="006EAC"/>
                </a:solidFill>
                <a:latin typeface="Verdana"/>
                <a:cs typeface="Verdana"/>
              </a:rPr>
              <a:t> </a:t>
            </a:r>
            <a:r>
              <a:rPr sz="1000" b="1" dirty="0">
                <a:solidFill>
                  <a:srgbClr val="006EAC"/>
                </a:solidFill>
                <a:latin typeface="Verdana"/>
                <a:cs typeface="Verdana"/>
              </a:rPr>
              <a:t>and</a:t>
            </a:r>
            <a:r>
              <a:rPr sz="1000" b="1" spc="-55" dirty="0">
                <a:solidFill>
                  <a:srgbClr val="006EAC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006EAC"/>
                </a:solidFill>
                <a:latin typeface="Verdana"/>
                <a:cs typeface="Verdana"/>
              </a:rPr>
              <a:t>certificates </a:t>
            </a:r>
            <a:r>
              <a:rPr sz="800" dirty="0">
                <a:latin typeface="Verdana"/>
                <a:cs typeface="Verdana"/>
              </a:rPr>
              <a:t>Bachelor</a:t>
            </a:r>
            <a:r>
              <a:rPr sz="800" spc="5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of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Engineering</a:t>
            </a:r>
            <a:r>
              <a:rPr sz="800" dirty="0">
                <a:latin typeface="Verdana"/>
                <a:cs typeface="Verdana"/>
              </a:rPr>
              <a:t>	</a:t>
            </a:r>
            <a:r>
              <a:rPr sz="800" spc="-10" dirty="0">
                <a:latin typeface="Verdana"/>
                <a:cs typeface="Verdana"/>
              </a:rPr>
              <a:t>Computer </a:t>
            </a:r>
            <a:r>
              <a:rPr sz="800" dirty="0">
                <a:latin typeface="Verdana"/>
                <a:cs typeface="Verdana"/>
              </a:rPr>
              <a:t>Science</a:t>
            </a:r>
            <a:r>
              <a:rPr sz="800" spc="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2021</a:t>
            </a:r>
            <a:r>
              <a:rPr sz="800" spc="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–</a:t>
            </a:r>
            <a:r>
              <a:rPr sz="800" spc="2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2025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006EAC"/>
                </a:solidFill>
                <a:latin typeface="Verdana"/>
                <a:cs typeface="Verdana"/>
              </a:rPr>
              <a:t>Skills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8900" y="6266687"/>
            <a:ext cx="361187" cy="36118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4D336A-2983-4BB7-D7B0-6627C895625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93" y="1231640"/>
            <a:ext cx="1541781" cy="15044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426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Calibri</vt:lpstr>
      <vt:lpstr>Verdana</vt:lpstr>
      <vt:lpstr>Office Theme</vt:lpstr>
      <vt:lpstr>Ayush Nikhara Senior Analyst/Senior Software Engineer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- 30109960_VAGISH_SHARMA</dc:title>
  <dc:creator>Sahai, Ishaan</dc:creator>
  <cp:lastModifiedBy>Ayush Nikhara</cp:lastModifiedBy>
  <cp:revision>1</cp:revision>
  <dcterms:created xsi:type="dcterms:W3CDTF">2025-11-04T08:44:05Z</dcterms:created>
  <dcterms:modified xsi:type="dcterms:W3CDTF">2025-11-04T09:12:12Z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Microsoft: Print To PDF</vt:lpwstr>
  </property>
</Properties>
</file>